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7th Semester 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803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BED7F5"/>
                </a:solidFill>
              </a:defRPr>
            </a:pPr>
            <a:r>
              <a:t>Hospital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0690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Objectives • Design Thinking &amp; Project Management • Functional Prototype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1. 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465A4"/>
                </a:solidFill>
              </a:defRPr>
            </a:pPr>
            <a:r>
              <a:t>What the project aims to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32323"/>
                </a:solidFill>
              </a:defRPr>
            </a:pPr>
            <a:r>
              <a:t>Digitize and manage major hospital operations using Java and Spring Boot.</a:t>
            </a:r>
          </a:p>
          <a:p>
            <a:pPr>
              <a:spcAft>
                <a:spcPts val="1300"/>
              </a:spcAft>
              <a:defRPr sz="2100">
                <a:solidFill>
                  <a:srgbClr val="232323"/>
                </a:solidFill>
              </a:defRPr>
            </a:pPr>
            <a:r>
              <a:t>Manage patient information and patient registration.</a:t>
            </a:r>
          </a:p>
          <a:p>
            <a:pPr>
              <a:spcAft>
                <a:spcPts val="1300"/>
              </a:spcAft>
              <a:defRPr sz="2100">
                <a:solidFill>
                  <a:srgbClr val="232323"/>
                </a:solidFill>
              </a:defRPr>
            </a:pPr>
            <a:r>
              <a:t>Manage staff and doctor-related information and scheduling structure.</a:t>
            </a:r>
          </a:p>
          <a:p>
            <a:pPr>
              <a:spcAft>
                <a:spcPts val="1300"/>
              </a:spcAft>
              <a:defRPr sz="2100">
                <a:solidFill>
                  <a:srgbClr val="232323"/>
                </a:solidFill>
              </a:defRPr>
            </a:pPr>
            <a:r>
              <a:t>Manage appointments, rooms, beds and bed assignments.</a:t>
            </a:r>
          </a:p>
          <a:p>
            <a:pPr>
              <a:spcAft>
                <a:spcPts val="1300"/>
              </a:spcAft>
              <a:defRPr sz="2100">
                <a:solidFill>
                  <a:srgbClr val="232323"/>
                </a:solidFill>
              </a:defRPr>
            </a:pPr>
            <a:r>
              <a:t>Provide a notification service structure for email communication.</a:t>
            </a:r>
          </a:p>
          <a:p>
            <a:pPr>
              <a:spcAft>
                <a:spcPts val="1300"/>
              </a:spcAft>
              <a:defRPr sz="2100">
                <a:solidFill>
                  <a:srgbClr val="232323"/>
                </a:solidFill>
              </a:defRPr>
            </a:pPr>
            <a:r>
              <a:t>Use a modular microservice-oriented architecture to separate business responsibilities.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Objectives Met by the Current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465A4"/>
                </a:solidFill>
              </a:defRPr>
            </a:pPr>
            <a:r>
              <a:t>Evidence reflected in the project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300">
                <a:solidFill>
                  <a:srgbClr val="232323"/>
                </a:solidFill>
              </a:defRPr>
            </a:pPr>
            <a:r>
              <a:t>Patient Management: registration, duplicate email/phone checks, patient ID generation and patient-address relationship.</a:t>
            </a:r>
          </a:p>
          <a:p>
            <a:pPr>
              <a:spcAft>
                <a:spcPts val="1300"/>
              </a:spcAft>
              <a:defRPr sz="2300">
                <a:solidFill>
                  <a:srgbClr val="232323"/>
                </a:solidFill>
              </a:defRPr>
            </a:pPr>
            <a:r>
              <a:t>Hospital Resources: room and bed management, bed assignment history, assigning beds and vacating beds.</a:t>
            </a:r>
          </a:p>
          <a:p>
            <a:pPr>
              <a:spcAft>
                <a:spcPts val="1300"/>
              </a:spcAft>
              <a:defRPr sz="2300">
                <a:solidFill>
                  <a:srgbClr val="232323"/>
                </a:solidFill>
              </a:defRPr>
            </a:pPr>
            <a:r>
              <a:t>Supporting Services: staff management, appointment structure, notification service structure and MySQL persistence.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2. Design Thinking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465A4"/>
                </a:solidFill>
              </a:defRPr>
            </a:pPr>
            <a:r>
              <a:t>Applied to understand the problem and organize 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323"/>
                </a:solidFill>
              </a:defRPr>
            </a:pPr>
            <a:r>
              <a:t>Understand: identify the need to digitize hospital operations.</a:t>
            </a:r>
          </a:p>
          <a:p>
            <a:pPr>
              <a:spcAft>
                <a:spcPts val="1300"/>
              </a:spcAft>
              <a:defRPr sz="2000">
                <a:solidFill>
                  <a:srgbClr val="232323"/>
                </a:solidFill>
              </a:defRPr>
            </a:pPr>
            <a:r>
              <a:t>Define: organize requirements around patients, staff, appointments, rooms, beds and notifications.</a:t>
            </a:r>
          </a:p>
          <a:p>
            <a:pPr>
              <a:spcAft>
                <a:spcPts val="1300"/>
              </a:spcAft>
              <a:defRPr sz="2000">
                <a:solidFill>
                  <a:srgbClr val="232323"/>
                </a:solidFill>
              </a:defRPr>
            </a:pPr>
            <a:r>
              <a:t>Design: divide responsibilities into focused services instead of one large monolithic application.</a:t>
            </a:r>
          </a:p>
          <a:p>
            <a:pPr>
              <a:spcAft>
                <a:spcPts val="1300"/>
              </a:spcAft>
              <a:defRPr sz="2000">
                <a:solidFill>
                  <a:srgbClr val="232323"/>
                </a:solidFill>
              </a:defRPr>
            </a:pPr>
            <a:r>
              <a:t>Develop and validate: use Controller → Service → Repository → Entity → MySQL layers.</a:t>
            </a:r>
          </a:p>
          <a:p>
            <a:pPr>
              <a:spcAft>
                <a:spcPts val="1300"/>
              </a:spcAft>
              <a:defRPr sz="2000">
                <a:solidFill>
                  <a:srgbClr val="232323"/>
                </a:solidFill>
              </a:defRPr>
            </a:pPr>
            <a:r>
              <a:t>Refine through business rules such as duplicate checks, room capacity, bed availability and assignment state changes.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3. Project Management Techniques Applied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465A4"/>
                </a:solidFill>
              </a:defRPr>
            </a:pPr>
            <a:r>
              <a:t>Based on the documented 3-person project division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323"/>
                </a:solidFill>
              </a:defRPr>
            </a:pPr>
            <a:r>
              <a:t>Modular task division according to major system responsibilities.</a:t>
            </a:r>
          </a:p>
          <a:p>
            <a:pPr>
              <a:spcAft>
                <a:spcPts val="1300"/>
              </a:spcAft>
              <a:defRPr sz="2000">
                <a:solidFill>
                  <a:srgbClr val="232323"/>
                </a:solidFill>
              </a:defRPr>
            </a:pPr>
            <a:r>
              <a:t>Person 1: introduction, architecture and infrastructure.</a:t>
            </a:r>
          </a:p>
          <a:p>
            <a:pPr>
              <a:spcAft>
                <a:spcPts val="1300"/>
              </a:spcAft>
              <a:defRPr sz="2000">
                <a:solidFill>
                  <a:srgbClr val="232323"/>
                </a:solidFill>
              </a:defRPr>
            </a:pPr>
            <a:r>
              <a:t>Person 2: patient, staff and appointment management.</a:t>
            </a:r>
          </a:p>
          <a:p>
            <a:pPr>
              <a:spcAft>
                <a:spcPts val="1300"/>
              </a:spcAft>
              <a:defRPr sz="2000">
                <a:solidFill>
                  <a:srgbClr val="232323"/>
                </a:solidFill>
              </a:defRPr>
            </a:pPr>
            <a:r>
              <a:t>Person 3: bed management, notifications, database, end-to-end flow and conclusion.</a:t>
            </a:r>
          </a:p>
          <a:p>
            <a:pPr>
              <a:spcAft>
                <a:spcPts val="1300"/>
              </a:spcAft>
              <a:defRPr sz="2000">
                <a:solidFill>
                  <a:srgbClr val="232323"/>
                </a:solidFill>
              </a:defRPr>
            </a:pPr>
            <a:r>
              <a:t>Layered development using a common Controller → Service → Repository → Entity structure.</a:t>
            </a:r>
          </a:p>
          <a:p>
            <a:pPr>
              <a:spcAft>
                <a:spcPts val="1300"/>
              </a:spcAft>
              <a:defRPr sz="2000">
                <a:solidFill>
                  <a:srgbClr val="232323"/>
                </a:solidFill>
              </a:defRPr>
            </a:pPr>
            <a:r>
              <a:t>Validation-focused development: business rules are handled before database persistence.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4. Functional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465A4"/>
                </a:solidFill>
              </a:defRPr>
            </a:pPr>
            <a:r>
              <a:t>Implemented project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323"/>
                </a:solidFill>
              </a:defRPr>
            </a:pPr>
            <a:r>
              <a:t>Patient Management — registration, duplicate email/phone checks and patient ID generation.</a:t>
            </a:r>
          </a:p>
          <a:p>
            <a:pPr>
              <a:spcAft>
                <a:spcPts val="1300"/>
              </a:spcAft>
              <a:defRPr sz="2000">
                <a:solidFill>
                  <a:srgbClr val="232323"/>
                </a:solidFill>
              </a:defRPr>
            </a:pPr>
            <a:r>
              <a:t>Staff Management — staff information with doctor-related scheduling structure.</a:t>
            </a:r>
          </a:p>
          <a:p>
            <a:pPr>
              <a:spcAft>
                <a:spcPts val="1300"/>
              </a:spcAft>
              <a:defRPr sz="2000">
                <a:solidFill>
                  <a:srgbClr val="232323"/>
                </a:solidFill>
              </a:defRPr>
            </a:pPr>
            <a:r>
              <a:t>Bed Management — room/bed structure, adding beds, assigning beds and vacating beds.</a:t>
            </a:r>
          </a:p>
          <a:p>
            <a:pPr>
              <a:spcAft>
                <a:spcPts val="1300"/>
              </a:spcAft>
              <a:defRPr sz="2000">
                <a:solidFill>
                  <a:srgbClr val="232323"/>
                </a:solidFill>
              </a:defRPr>
            </a:pPr>
            <a:r>
              <a:t>Bed Assignment History — preserves previous assignments.</a:t>
            </a:r>
          </a:p>
          <a:p>
            <a:pPr>
              <a:spcAft>
                <a:spcPts val="1300"/>
              </a:spcAft>
              <a:defRPr sz="2000">
                <a:solidFill>
                  <a:srgbClr val="232323"/>
                </a:solidFill>
              </a:defRPr>
            </a:pPr>
            <a:r>
              <a:t>Database persistence — Spring Data JPA / Hibernate with MySQL.</a:t>
            </a:r>
          </a:p>
          <a:p>
            <a:pPr>
              <a:spcAft>
                <a:spcPts val="1300"/>
              </a:spcAft>
              <a:defRPr sz="2000">
                <a:solidFill>
                  <a:srgbClr val="232323"/>
                </a:solidFill>
              </a:defRPr>
            </a:pPr>
            <a:r>
              <a:t>Exception handling — business errors such as patient not found, duplicate details, unavailable beds and capacity errors.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Functional Prototype — Demonstration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465A4"/>
                </a:solidFill>
              </a:defRPr>
            </a:pPr>
            <a:r>
              <a:t>Example: Patient Registration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2240280"/>
            <a:ext cx="1353312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59" y="2496312"/>
            <a:ext cx="126187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Client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691640" y="2587752"/>
            <a:ext cx="274320" cy="411480"/>
          </a:xfrm>
          <a:prstGeom prst="rightArrow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993392" y="2240280"/>
            <a:ext cx="1353312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39112" y="2496312"/>
            <a:ext cx="126187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Patient</a:t>
            </a:r>
            <a:br/>
            <a:r>
              <a:t>Controller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364992" y="2587752"/>
            <a:ext cx="274320" cy="411480"/>
          </a:xfrm>
          <a:prstGeom prst="rightArrow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66744" y="2240280"/>
            <a:ext cx="1353312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3" y="2496312"/>
            <a:ext cx="126187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Patient</a:t>
            </a:r>
            <a:br/>
            <a:r>
              <a:t>Service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038344" y="2587752"/>
            <a:ext cx="274320" cy="411480"/>
          </a:xfrm>
          <a:prstGeom prst="rightArrow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340096" y="2240280"/>
            <a:ext cx="1353312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85816" y="2496312"/>
            <a:ext cx="126187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Validation +</a:t>
            </a:r>
            <a:br/>
            <a:r>
              <a:t>Builder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711696" y="2587752"/>
            <a:ext cx="274320" cy="411480"/>
          </a:xfrm>
          <a:prstGeom prst="rightArrow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013448" y="2240280"/>
            <a:ext cx="1353312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59168" y="2496312"/>
            <a:ext cx="126187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Patient</a:t>
            </a:r>
            <a:br/>
            <a:r>
              <a:t>Entity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385048" y="2587752"/>
            <a:ext cx="274320" cy="411480"/>
          </a:xfrm>
          <a:prstGeom prst="rightArrow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686800" y="2240280"/>
            <a:ext cx="1353312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32520" y="2496312"/>
            <a:ext cx="126187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JPA / Hibernate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058400" y="2587752"/>
            <a:ext cx="274320" cy="411480"/>
          </a:xfrm>
          <a:prstGeom prst="rightArrow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360152" y="2240280"/>
            <a:ext cx="1353312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05872" y="2496312"/>
            <a:ext cx="126187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MySQL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1148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/>
            </a:pPr>
            <a:r>
              <a:t>The flow shows the journey of a request through the application layers until it reaches the database.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465A4"/>
                </a:solidFill>
              </a:defRPr>
            </a:pPr>
            <a:r>
              <a:t>Project Review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32323"/>
                </a:solidFill>
              </a:defRPr>
            </a:pPr>
            <a:r>
              <a:t>The project addresses the defined hospital-management objectives through modular services.</a:t>
            </a:r>
          </a:p>
          <a:p>
            <a:pPr>
              <a:spcAft>
                <a:spcPts val="1300"/>
              </a:spcAft>
              <a:defRPr sz="2100">
                <a:solidFill>
                  <a:srgbClr val="232323"/>
                </a:solidFill>
              </a:defRPr>
            </a:pPr>
            <a:r>
              <a:t>The development approach separates responsibilities and applies layered application structure.</a:t>
            </a:r>
          </a:p>
          <a:p>
            <a:pPr>
              <a:spcAft>
                <a:spcPts val="1300"/>
              </a:spcAft>
              <a:defRPr sz="2100">
                <a:solidFill>
                  <a:srgbClr val="232323"/>
                </a:solidFill>
              </a:defRPr>
            </a:pPr>
            <a:r>
              <a:t>The prototype demonstrates concrete hospital workflows, especially patient and bed management.</a:t>
            </a:r>
          </a:p>
          <a:p>
            <a:pPr>
              <a:spcAft>
                <a:spcPts val="1300"/>
              </a:spcAft>
              <a:defRPr sz="2100">
                <a:solidFill>
                  <a:srgbClr val="232323"/>
                </a:solidFill>
              </a:defRPr>
            </a:pPr>
            <a:r>
              <a:t>Some infrastructure and features remain partial in the current repository and should be presented accurately during the review.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